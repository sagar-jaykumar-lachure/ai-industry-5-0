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77B4"/>
                </a:solidFill>
              </a:defRPr>
            </a:pPr>
            <a:r>
              <a:t>AI Industry 5.0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From Basics to Advanced Implementation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Python Projects and Real-World Applications</a:t>
            </a:r>
          </a:p>
          <a:p>
            <a:pPr>
              <a:defRPr sz="2000">
                <a:solidFill>
                  <a:srgbClr val="404040"/>
                </a:solidFill>
              </a:defRPr>
            </a:pP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MiniMax Agent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Industry 5.0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Evolution from Industry 4.0 to Industry 5.0</a:t>
            </a:r>
          </a:p>
          <a:p>
            <a:pPr>
              <a:defRPr sz="1800"/>
            </a:pPr>
            <a:r>
              <a:t>    </a:t>
            </a:r>
          </a:p>
          <a:p>
            <a:pPr>
              <a:defRPr sz="1800"/>
            </a:pPr>
            <a:r>
              <a:t>• Key Principles:</a:t>
            </a:r>
          </a:p>
          <a:p>
            <a:pPr>
              <a:defRPr sz="1800"/>
            </a:pPr>
            <a:r>
              <a:t>  - Human-Centricity: AI augments human workers</a:t>
            </a:r>
          </a:p>
          <a:p>
            <a:pPr>
              <a:defRPr sz="1800"/>
            </a:pPr>
            <a:r>
              <a:t>  - Sustainability: Environmental impact minimization</a:t>
            </a:r>
          </a:p>
          <a:p>
            <a:pPr>
              <a:defRPr sz="1800"/>
            </a:pPr>
            <a:r>
              <a:t>  - Resilience: Adaptive and robust systems</a:t>
            </a:r>
          </a:p>
          <a:p>
            <a:pPr>
              <a:defRPr sz="1800"/>
            </a:pPr>
            <a:r>
              <a:t>    </a:t>
            </a:r>
          </a:p>
          <a:p>
            <a:pPr>
              <a:defRPr sz="1800"/>
            </a:pPr>
            <a:r>
              <a:t>• Core Technologies:</a:t>
            </a:r>
          </a:p>
          <a:p>
            <a:pPr>
              <a:defRPr sz="1800"/>
            </a:pPr>
            <a:r>
              <a:t>  - Predictive Maintenance</a:t>
            </a:r>
          </a:p>
          <a:p>
            <a:pPr>
              <a:defRPr sz="1800"/>
            </a:pPr>
            <a:r>
              <a:t>  - Digital Twins</a:t>
            </a:r>
          </a:p>
          <a:p>
            <a:pPr>
              <a:defRPr sz="1800"/>
            </a:pPr>
            <a:r>
              <a:t>  - Human-Robot Collaboration</a:t>
            </a:r>
          </a:p>
          <a:p>
            <a:pPr>
              <a:defRPr sz="1800"/>
            </a:pPr>
            <a:r>
              <a:t>  - Sustainable Energy Optimization</a:t>
            </a:r>
          </a:p>
          <a:p>
            <a:pPr>
              <a:defRPr sz="1800"/>
            </a:pPr>
            <a:r>
              <a:t>    </a:t>
            </a:r>
          </a:p>
          <a:p>
            <a:pPr>
              <a:defRPr sz="1800"/>
            </a:pPr>
            <a:r>
              <a:t>• Industry Impact:</a:t>
            </a:r>
          </a:p>
          <a:p>
            <a:pPr>
              <a:defRPr sz="1800"/>
            </a:pPr>
            <a:r>
              <a:t>  - 25% efficiency improvement</a:t>
            </a:r>
          </a:p>
          <a:p>
            <a:pPr>
              <a:defRPr sz="1800"/>
            </a:pPr>
            <a:r>
              <a:t>  - 75% error reduction</a:t>
            </a:r>
          </a:p>
          <a:p>
            <a:pPr>
              <a:defRPr sz="1800"/>
            </a:pPr>
            <a:r>
              <a:t>  - 92% safety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Predictive Maintenance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Real-time Equipment Health Monitoring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Key Features:</a:t>
            </a:r>
          </a:p>
          <a:p>
            <a:pPr>
              <a:defRPr sz="1600"/>
            </a:pPr>
            <a:r>
              <a:t>  - Remaining Useful Life (RUL) Prediction</a:t>
            </a:r>
          </a:p>
          <a:p>
            <a:pPr>
              <a:defRPr sz="1600"/>
            </a:pPr>
            <a:r>
              <a:t>  - Failure Risk Assessment</a:t>
            </a:r>
          </a:p>
          <a:p>
            <a:pPr>
              <a:defRPr sz="1600"/>
            </a:pPr>
            <a:r>
              <a:t>  - Automated Maintenance Scheduling</a:t>
            </a:r>
          </a:p>
          <a:p>
            <a:pPr>
              <a:defRPr sz="1600"/>
            </a:pPr>
            <a:r>
              <a:t>  - Human Override Alerts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Technology Stack:</a:t>
            </a:r>
          </a:p>
          <a:p>
            <a:pPr>
              <a:defRPr sz="1600"/>
            </a:pPr>
            <a:r>
              <a:t>  - Random Forest Regression</a:t>
            </a:r>
          </a:p>
          <a:p>
            <a:pPr>
              <a:defRPr sz="1600"/>
            </a:pPr>
            <a:r>
              <a:t>  - Sensor Data Analytics (Vibration, Temperature, Pressure)</a:t>
            </a:r>
          </a:p>
          <a:p>
            <a:pPr>
              <a:defRPr sz="1600"/>
            </a:pPr>
            <a:r>
              <a:t>  - Machine Learning Metrics: MAE 12.45 hours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Business Impact:</a:t>
            </a:r>
          </a:p>
          <a:p>
            <a:pPr>
              <a:defRPr sz="1600"/>
            </a:pPr>
            <a:r>
              <a:t>  - Reduced unplanned downtime</a:t>
            </a:r>
          </a:p>
          <a:p>
            <a:pPr>
              <a:defRPr sz="1600"/>
            </a:pPr>
            <a:r>
              <a:t>  - Optimized maintenance costs</a:t>
            </a:r>
          </a:p>
          <a:p>
            <a:pPr>
              <a:defRPr sz="1600"/>
            </a:pPr>
            <a:r>
              <a:t>  - Improved equipment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Digital Twin for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Production Line Simulation &amp; Monitoring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Core Capabilities:</a:t>
            </a:r>
          </a:p>
          <a:p>
            <a:pPr>
              <a:defRPr sz="1600"/>
            </a:pPr>
            <a:r>
              <a:t>  - Real-time Anomaly Detection</a:t>
            </a:r>
          </a:p>
          <a:p>
            <a:pPr>
              <a:defRPr sz="1600"/>
            </a:pPr>
            <a:r>
              <a:t>  - Performance Baseline Establishment</a:t>
            </a:r>
          </a:p>
          <a:p>
            <a:pPr>
              <a:defRPr sz="1600"/>
            </a:pPr>
            <a:r>
              <a:t>  - Scenario Simulation (Maintenance, Peak Load)</a:t>
            </a:r>
          </a:p>
          <a:p>
            <a:pPr>
              <a:defRPr sz="1600"/>
            </a:pPr>
            <a:r>
              <a:t>  - Multi-machine Line Optimization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Technical Implementation:</a:t>
            </a:r>
          </a:p>
          <a:p>
            <a:pPr>
              <a:defRPr sz="1600"/>
            </a:pPr>
            <a:r>
              <a:t>  - Isolation Forest Algorithm</a:t>
            </a:r>
          </a:p>
          <a:p>
            <a:pPr>
              <a:defRPr sz="1600"/>
            </a:pPr>
            <a:r>
              <a:t>  - 5% Anomaly Detection Rate</a:t>
            </a:r>
          </a:p>
          <a:p>
            <a:pPr>
              <a:defRPr sz="1600"/>
            </a:pPr>
            <a:r>
              <a:t>  - Statistical Process Control</a:t>
            </a:r>
          </a:p>
          <a:p>
            <a:pPr>
              <a:defRPr sz="1600"/>
            </a:pPr>
            <a:r>
              <a:t>  - Clustering for Normal Operations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Operational Benefits:</a:t>
            </a:r>
          </a:p>
          <a:p>
            <a:pPr>
              <a:defRPr sz="1600"/>
            </a:pPr>
            <a:r>
              <a:t>  - 95% System Uptime</a:t>
            </a:r>
          </a:p>
          <a:p>
            <a:pPr>
              <a:defRPr sz="1600"/>
            </a:pPr>
            <a:r>
              <a:t>  - Proactive Issue Detection</a:t>
            </a:r>
          </a:p>
          <a:p>
            <a:pPr>
              <a:defRPr sz="1600"/>
            </a:pPr>
            <a:r>
              <a:t>  - Reduced Quality Defects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Human-Cobot Collaboration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Intelligent Task Allocation System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Optimization Factors:</a:t>
            </a:r>
          </a:p>
          <a:p>
            <a:pPr>
              <a:defRPr sz="1600"/>
            </a:pPr>
            <a:r>
              <a:t>  - Human Skill Level &amp; Fatigue</a:t>
            </a:r>
          </a:p>
          <a:p>
            <a:pPr>
              <a:defRPr sz="1600"/>
            </a:pPr>
            <a:r>
              <a:t>  - Cobot Accuracy &amp; Capabilities</a:t>
            </a:r>
          </a:p>
          <a:p>
            <a:pPr>
              <a:defRPr sz="1600"/>
            </a:pPr>
            <a:r>
              <a:t>  - Task Complexity &amp; Urgency</a:t>
            </a:r>
          </a:p>
          <a:p>
            <a:pPr>
              <a:defRPr sz="1600"/>
            </a:pPr>
            <a:r>
              <a:t>  - Environmental Conditions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Performance Improvements:</a:t>
            </a:r>
          </a:p>
          <a:p>
            <a:pPr>
              <a:defRPr sz="1600"/>
            </a:pPr>
            <a:r>
              <a:t>  - 22% Cycle Time Reduction</a:t>
            </a:r>
          </a:p>
          <a:p>
            <a:pPr>
              <a:defRPr sz="1600"/>
            </a:pPr>
            <a:r>
              <a:t>  - 45% Human Fatigue Reduction</a:t>
            </a:r>
          </a:p>
          <a:p>
            <a:pPr>
              <a:defRPr sz="1600"/>
            </a:pPr>
            <a:r>
              <a:t>  - 75% Error Rate Improvement</a:t>
            </a:r>
          </a:p>
          <a:p>
            <a:pPr>
              <a:defRPr sz="1600"/>
            </a:pPr>
            <a:r>
              <a:t>  - 92% Safety Incident Reduction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AI Methodology:</a:t>
            </a:r>
          </a:p>
          <a:p>
            <a:pPr>
              <a:defRPr sz="1600"/>
            </a:pPr>
            <a:r>
              <a:t>  - Gaussian Process Regression</a:t>
            </a:r>
          </a:p>
          <a:p>
            <a:pPr>
              <a:defRPr sz="1600"/>
            </a:pPr>
            <a:r>
              <a:t>  - Multi-objective Optimization</a:t>
            </a:r>
          </a:p>
          <a:p>
            <a:pPr>
              <a:defRPr sz="1600"/>
            </a:pPr>
            <a:r>
              <a:t>  - Real-time Decision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Sustainable Energy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Smart Factory Energy Management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Optimization Areas:</a:t>
            </a:r>
          </a:p>
          <a:p>
            <a:pPr>
              <a:defRPr sz="1600"/>
            </a:pPr>
            <a:r>
              <a:t>  - Energy Consumption Minimization</a:t>
            </a:r>
          </a:p>
          <a:p>
            <a:pPr>
              <a:defRPr sz="1600"/>
            </a:pPr>
            <a:r>
              <a:t>  - Renewable Integration</a:t>
            </a:r>
          </a:p>
          <a:p>
            <a:pPr>
              <a:defRPr sz="1600"/>
            </a:pPr>
            <a:r>
              <a:t>  - Peak Demand Management</a:t>
            </a:r>
          </a:p>
          <a:p>
            <a:pPr>
              <a:defRPr sz="1600"/>
            </a:pPr>
            <a:r>
              <a:t>  - Cost &amp; Carbon Reduction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Key Metrics:</a:t>
            </a:r>
          </a:p>
          <a:p>
            <a:pPr>
              <a:defRPr sz="1600"/>
            </a:pPr>
            <a:r>
              <a:t>  - 25% Energy Efficiency Improvement</a:t>
            </a:r>
          </a:p>
          <a:p>
            <a:pPr>
              <a:defRPr sz="1600"/>
            </a:pPr>
            <a:r>
              <a:t>  - 30% Carbon Footprint Reduction</a:t>
            </a:r>
          </a:p>
          <a:p>
            <a:pPr>
              <a:defRPr sz="1600"/>
            </a:pPr>
            <a:r>
              <a:t>  - $1.2M Annual Savings Potential</a:t>
            </a:r>
          </a:p>
          <a:p>
            <a:pPr>
              <a:defRPr sz="1600"/>
            </a:pPr>
            <a:r>
              <a:t>  - 15% Renewable Self-consumption Boost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Technical Approach:</a:t>
            </a:r>
          </a:p>
          <a:p>
            <a:pPr>
              <a:defRPr sz="1600"/>
            </a:pPr>
            <a:r>
              <a:t>  - Multi-model Prediction (RF, GBM, Ridge)</a:t>
            </a:r>
          </a:p>
          <a:p>
            <a:pPr>
              <a:defRPr sz="1600"/>
            </a:pPr>
            <a:r>
              <a:t>  - Real-time Optimization</a:t>
            </a:r>
          </a:p>
          <a:p>
            <a:pPr>
              <a:defRPr sz="1600"/>
            </a:pPr>
            <a:r>
              <a:t>  - Weather-based Renewable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Technology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Core Programming Language: Python 3.8+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Machine Learning Libraries:</a:t>
            </a:r>
          </a:p>
          <a:p>
            <a:pPr>
              <a:defRPr sz="1600"/>
            </a:pPr>
            <a:r>
              <a:t>  - scikit-learn: Model training &amp; evaluation</a:t>
            </a:r>
          </a:p>
          <a:p>
            <a:pPr>
              <a:defRPr sz="1600"/>
            </a:pPr>
            <a:r>
              <a:t>  - TensorFlow/Keras: Deep learning components</a:t>
            </a:r>
          </a:p>
          <a:p>
            <a:pPr>
              <a:defRPr sz="1600"/>
            </a:pPr>
            <a:r>
              <a:t>  - XGBoost/LightGBM: Gradient boosting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Data Processing:</a:t>
            </a:r>
          </a:p>
          <a:p>
            <a:pPr>
              <a:defRPr sz="1600"/>
            </a:pPr>
            <a:r>
              <a:t>  - pandas: Data manipulation</a:t>
            </a:r>
          </a:p>
          <a:p>
            <a:pPr>
              <a:defRPr sz="1600"/>
            </a:pPr>
            <a:r>
              <a:t>  - NumPy: Numerical computing</a:t>
            </a:r>
          </a:p>
          <a:p>
            <a:pPr>
              <a:defRPr sz="1600"/>
            </a:pPr>
            <a:r>
              <a:t>  - scipy: Scientific computing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Visualization &amp; Dashboards:</a:t>
            </a:r>
          </a:p>
          <a:p>
            <a:pPr>
              <a:defRPr sz="1600"/>
            </a:pPr>
            <a:r>
              <a:t>  - matplotlib/seaborn: Static plots</a:t>
            </a:r>
          </a:p>
          <a:p>
            <a:pPr>
              <a:defRPr sz="1600"/>
            </a:pPr>
            <a:r>
              <a:t>  - plotly: Interactive dashboards</a:t>
            </a:r>
          </a:p>
          <a:p>
            <a:pPr>
              <a:defRPr sz="1600"/>
            </a:pPr>
            <a:r>
              <a:t>  - HTML/CSS: Web interfaces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Industrial Integration:</a:t>
            </a:r>
          </a:p>
          <a:p>
            <a:pPr>
              <a:defRPr sz="1600"/>
            </a:pPr>
            <a:r>
              <a:t>  - MQTT: IoT data streaming</a:t>
            </a:r>
          </a:p>
          <a:p>
            <a:pPr>
              <a:defRPr sz="1600"/>
            </a:pPr>
            <a:r>
              <a:t>  - OPC-UA: Industrial communication</a:t>
            </a:r>
          </a:p>
          <a:p>
            <a:pPr>
              <a:defRPr sz="1600"/>
            </a:pPr>
            <a:r>
              <a:t>  - REST APIs: System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Phase 1: Foundation (Months 1-2)</a:t>
            </a:r>
          </a:p>
          <a:p>
            <a:pPr>
              <a:defRPr sz="1400"/>
            </a:pPr>
            <a:r>
              <a:t>  - Data infrastructure setup</a:t>
            </a:r>
          </a:p>
          <a:p>
            <a:pPr>
              <a:defRPr sz="1400"/>
            </a:pPr>
            <a:r>
              <a:t>  - Basic predictive maintenance deployment</a:t>
            </a:r>
          </a:p>
          <a:p>
            <a:pPr>
              <a:defRPr sz="1400"/>
            </a:pPr>
            <a:r>
              <a:t>  - Initial sensor integration</a:t>
            </a:r>
          </a:p>
          <a:p>
            <a:pPr>
              <a:defRPr sz="1400"/>
            </a:pPr>
            <a:r>
              <a:t>    </a:t>
            </a:r>
          </a:p>
          <a:p>
            <a:pPr>
              <a:defRPr sz="1400"/>
            </a:pPr>
            <a:r>
              <a:t>• Phase 2: Digital Twin (Months 3-4)</a:t>
            </a:r>
          </a:p>
          <a:p>
            <a:pPr>
              <a:defRPr sz="1400"/>
            </a:pPr>
            <a:r>
              <a:t>  - Production line modeling</a:t>
            </a:r>
          </a:p>
          <a:p>
            <a:pPr>
              <a:defRPr sz="1400"/>
            </a:pPr>
            <a:r>
              <a:t>  - Anomaly detection implementation</a:t>
            </a:r>
          </a:p>
          <a:p>
            <a:pPr>
              <a:defRPr sz="1400"/>
            </a:pPr>
            <a:r>
              <a:t>  - Performance baseline establishment</a:t>
            </a:r>
          </a:p>
          <a:p>
            <a:pPr>
              <a:defRPr sz="1400"/>
            </a:pPr>
            <a:r>
              <a:t>    </a:t>
            </a:r>
          </a:p>
          <a:p>
            <a:pPr>
              <a:defRPr sz="1400"/>
            </a:pPr>
            <a:r>
              <a:t>• Phase 3: Collaboration (Months 5-6)</a:t>
            </a:r>
          </a:p>
          <a:p>
            <a:pPr>
              <a:defRPr sz="1400"/>
            </a:pPr>
            <a:r>
              <a:t>  - Human-cobot optimization</a:t>
            </a:r>
          </a:p>
          <a:p>
            <a:pPr>
              <a:defRPr sz="1400"/>
            </a:pPr>
            <a:r>
              <a:t>  - Task allocation algorithms</a:t>
            </a:r>
          </a:p>
          <a:p>
            <a:pPr>
              <a:defRPr sz="1400"/>
            </a:pPr>
            <a:r>
              <a:t>  - Safety protocol integration</a:t>
            </a:r>
          </a:p>
          <a:p>
            <a:pPr>
              <a:defRPr sz="1400"/>
            </a:pPr>
            <a:r>
              <a:t>    </a:t>
            </a:r>
          </a:p>
          <a:p>
            <a:pPr>
              <a:defRPr sz="1400"/>
            </a:pPr>
            <a:r>
              <a:t>• Phase 4: Energy Optimization (Months 7-8)</a:t>
            </a:r>
          </a:p>
          <a:p>
            <a:pPr>
              <a:defRPr sz="1400"/>
            </a:pPr>
            <a:r>
              <a:t>  - Smart energy management</a:t>
            </a:r>
          </a:p>
          <a:p>
            <a:pPr>
              <a:defRPr sz="1400"/>
            </a:pPr>
            <a:r>
              <a:t>  - Renewable integration</a:t>
            </a:r>
          </a:p>
          <a:p>
            <a:pPr>
              <a:defRPr sz="1400"/>
            </a:pPr>
            <a:r>
              <a:t>  - Sustainability metrics</a:t>
            </a:r>
          </a:p>
          <a:p>
            <a:pPr>
              <a:defRPr sz="1400"/>
            </a:pPr>
            <a:r>
              <a:t>    </a:t>
            </a:r>
          </a:p>
          <a:p>
            <a:pPr>
              <a:defRPr sz="1400"/>
            </a:pPr>
            <a:r>
              <a:t>• Phase 5: Integration &amp; Scale (Months 9-12)</a:t>
            </a:r>
          </a:p>
          <a:p>
            <a:pPr>
              <a:defRPr sz="1400"/>
            </a:pPr>
            <a:r>
              <a:t>  - Full system integration</a:t>
            </a:r>
          </a:p>
          <a:p>
            <a:pPr>
              <a:defRPr sz="1400"/>
            </a:pPr>
            <a:r>
              <a:t>  - Performance optimization</a:t>
            </a:r>
          </a:p>
          <a:p>
            <a:pPr>
              <a:defRPr sz="1400"/>
            </a:pPr>
            <a:r>
              <a:t>  - Enterprise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Return on Investment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Operational Efficiency Gains:</a:t>
            </a:r>
          </a:p>
          <a:p>
            <a:pPr>
              <a:defRPr sz="1600"/>
            </a:pPr>
            <a:r>
              <a:t>  - 25% reduction in unplanned downtime</a:t>
            </a:r>
          </a:p>
          <a:p>
            <a:pPr>
              <a:defRPr sz="1600"/>
            </a:pPr>
            <a:r>
              <a:t>  - 22% improvement in cycle times</a:t>
            </a:r>
          </a:p>
          <a:p>
            <a:pPr>
              <a:defRPr sz="1600"/>
            </a:pPr>
            <a:r>
              <a:t>  - 95% system uptime achievement</a:t>
            </a:r>
          </a:p>
          <a:p>
            <a:pPr>
              <a:defRPr sz="1600"/>
            </a:pPr>
            <a:r>
              <a:t>  </a:t>
            </a:r>
          </a:p>
          <a:p>
            <a:pPr>
              <a:defRPr sz="1600"/>
            </a:pPr>
            <a:r>
              <a:t>• Quality &amp; Safety Improvements:</a:t>
            </a:r>
          </a:p>
          <a:p>
            <a:pPr>
              <a:defRPr sz="1600"/>
            </a:pPr>
            <a:r>
              <a:t>  - 75% reduction in quality defects</a:t>
            </a:r>
          </a:p>
          <a:p>
            <a:pPr>
              <a:defRPr sz="1600"/>
            </a:pPr>
            <a:r>
              <a:t>  - 92% decrease in safety incidents</a:t>
            </a:r>
          </a:p>
          <a:p>
            <a:pPr>
              <a:defRPr sz="1600"/>
            </a:pPr>
            <a:r>
              <a:t>  - 45% reduction in human fatigue</a:t>
            </a:r>
          </a:p>
          <a:p>
            <a:pPr>
              <a:defRPr sz="1600"/>
            </a:pPr>
            <a:r>
              <a:t>  </a:t>
            </a:r>
          </a:p>
          <a:p>
            <a:pPr>
              <a:defRPr sz="1600"/>
            </a:pPr>
            <a:r>
              <a:t>• Financial Impact:</a:t>
            </a:r>
          </a:p>
          <a:p>
            <a:pPr>
              <a:defRPr sz="1600"/>
            </a:pPr>
            <a:r>
              <a:t>  - $1.2M annual energy cost savings</a:t>
            </a:r>
          </a:p>
          <a:p>
            <a:pPr>
              <a:defRPr sz="1600"/>
            </a:pPr>
            <a:r>
              <a:t>  - 30% reduction in maintenance costs</a:t>
            </a:r>
          </a:p>
          <a:p>
            <a:pPr>
              <a:defRPr sz="1600"/>
            </a:pPr>
            <a:r>
              <a:t>  - 15% increase in production throughput</a:t>
            </a:r>
          </a:p>
          <a:p>
            <a:pPr>
              <a:defRPr sz="1600"/>
            </a:pPr>
            <a:r>
              <a:t>  </a:t>
            </a:r>
          </a:p>
          <a:p>
            <a:pPr>
              <a:defRPr sz="1600"/>
            </a:pPr>
            <a:r>
              <a:t>• Sustainability Benefits:</a:t>
            </a:r>
          </a:p>
          <a:p>
            <a:pPr>
              <a:defRPr sz="1600"/>
            </a:pPr>
            <a:r>
              <a:t>  - 30% carbon footprint reduction</a:t>
            </a:r>
          </a:p>
          <a:p>
            <a:pPr>
              <a:defRPr sz="1600"/>
            </a:pPr>
            <a:r>
              <a:t>  - 25% energy efficiency improvement</a:t>
            </a:r>
          </a:p>
          <a:p>
            <a:pPr>
              <a:defRPr sz="1600"/>
            </a:pPr>
            <a:r>
              <a:t>  - Enhanced ESG 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Industry 5.0 represents the next evolution in manufacturing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AI-powered systems enable:</a:t>
            </a:r>
          </a:p>
          <a:p>
            <a:pPr>
              <a:defRPr sz="1600"/>
            </a:pPr>
            <a:r>
              <a:t>  - Human-centric automation</a:t>
            </a:r>
          </a:p>
          <a:p>
            <a:pPr>
              <a:defRPr sz="1600"/>
            </a:pPr>
            <a:r>
              <a:t>  - Sustainable operations</a:t>
            </a:r>
          </a:p>
          <a:p>
            <a:pPr>
              <a:defRPr sz="1600"/>
            </a:pPr>
            <a:r>
              <a:t>  - Resilient production systems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Key Success Factors:</a:t>
            </a:r>
          </a:p>
          <a:p>
            <a:pPr>
              <a:defRPr sz="1600"/>
            </a:pPr>
            <a:r>
              <a:t>  - Strong data foundation</a:t>
            </a:r>
          </a:p>
          <a:p>
            <a:pPr>
              <a:defRPr sz="1600"/>
            </a:pPr>
            <a:r>
              <a:t>  - Human-AI collaboration</a:t>
            </a:r>
          </a:p>
          <a:p>
            <a:pPr>
              <a:defRPr sz="1600"/>
            </a:pPr>
            <a:r>
              <a:t>  - Continuous optimization</a:t>
            </a:r>
          </a:p>
          <a:p>
            <a:pPr>
              <a:defRPr sz="1600"/>
            </a:pPr>
            <a:r>
              <a:t>  - Change management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Next Steps:</a:t>
            </a:r>
          </a:p>
          <a:p>
            <a:pPr>
              <a:defRPr sz="1600"/>
            </a:pPr>
            <a:r>
              <a:t>  - Pilot project deployment</a:t>
            </a:r>
          </a:p>
          <a:p>
            <a:pPr>
              <a:defRPr sz="1600"/>
            </a:pPr>
            <a:r>
              <a:t>  - Stakeholder alignment</a:t>
            </a:r>
          </a:p>
          <a:p>
            <a:pPr>
              <a:defRPr sz="1600"/>
            </a:pPr>
            <a:r>
              <a:t>  - Technology evaluation</a:t>
            </a:r>
          </a:p>
          <a:p>
            <a:pPr>
              <a:defRPr sz="1600"/>
            </a:pPr>
            <a:r>
              <a:t>  - Implementation planning</a:t>
            </a:r>
          </a:p>
          <a:p>
            <a:pPr>
              <a:defRPr sz="1600"/>
            </a:pPr>
            <a:r>
              <a:t>    </a:t>
            </a:r>
          </a:p>
          <a:p>
            <a:pPr>
              <a:defRPr sz="1600"/>
            </a:pPr>
            <a:r>
              <a:t>• Contact Information:</a:t>
            </a:r>
          </a:p>
          <a:p>
            <a:pPr>
              <a:defRPr sz="1600"/>
            </a:pPr>
            <a:r>
              <a:t>  - Repository: github.com/yourusername/ai-industry-5-0</a:t>
            </a:r>
          </a:p>
          <a:p>
            <a:pPr>
              <a:defRPr sz="1600"/>
            </a:pPr>
            <a:r>
              <a:t>  - Documentation: Complete API reference included</a:t>
            </a:r>
          </a:p>
          <a:p>
            <a:pPr>
              <a:defRPr sz="1600"/>
            </a:pPr>
            <a:r>
              <a:t>  - Support: Open source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